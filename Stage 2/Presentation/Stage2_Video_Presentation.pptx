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: mechanical" id="{4c06df37-d9d2-b57b-607f-72433818168a}">
          <p14:sldIdLst>
            <p14:sldId id="256"/>
            <p14:sldId id="257"/>
            <p14:sldId id="258"/>
            <p14:sldId id="259"/>
            <p14:sldId id="260"/>
          </p14:sldIdLst>
        </p14:section>
        <p14:section name="E1: power and wiring" id="{496b17fa-d0d1-4a0b-8f1a-fd016fa62cec}">
          <p14:sldIdLst>
            <p14:sldId id="261"/>
            <p14:sldId id="262"/>
          </p14:sldIdLst>
        </p14:section>
        <p14:section name="E2: control and Case 1" id="{ae5a1479-624d-39db-7dd7-d80b1a71bde2}">
          <p14:sldIdLst>
            <p14:sldId id="263"/>
            <p14:sldId id="264"/>
            <p14:sldId id="265"/>
          </p14:sldIdLst>
        </p14:section>
        <p14:section name="E3: Case 2 and results" id="{61a23cdf-2482-75ba-e63d-3c7bbf535b53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F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F44"/>
                </a:solidFill>
                <a:latin typeface="+mn-lt"/>
              </a:rPr>
              <a:t>Theoretical velocity v = Q/A (m/s)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 mm ID (paper)</c:v>
                </c:pt>
              </c:strCache>
            </c:strRef>
          </c:tx>
          <c:spPr>
            <a:solidFill>
              <a:srgbClr val="A9D3E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L/min</c:v>
                  </c:pt>
                  <c:pt idx="1">
                    <c:v>3 L/min</c:v>
                  </c:pt>
                  <c:pt idx="2">
                    <c:v>6 L/min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</c:v>
                </c:pt>
                <c:pt idx="1">
                  <c:v>0.99</c:v>
                </c:pt>
                <c:pt idx="2">
                  <c:v>1.99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 mm ID (kit)</c:v>
                </c:pt>
              </c:strCache>
            </c:strRef>
          </c:tx>
          <c:spPr>
            <a:solidFill>
              <a:srgbClr val="1E88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L/min</c:v>
                  </c:pt>
                  <c:pt idx="1">
                    <c:v>3 L/min</c:v>
                  </c:pt>
                  <c:pt idx="2">
                    <c:v>6 L/min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0.85</c:v>
                </c:pt>
                <c:pt idx="1">
                  <c:v>2.55</c:v>
                </c:pt>
                <c:pt idx="2">
                  <c:v>5.09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3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speaks. Slide 1, 0:00 to 0:20. Full word-for-word speeches are in Stage2_Video_Script.pdf.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speaks. Slide 2, 0:20 to 0:55.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speaks. Slide 3, 0:55 to 1:30. Point along the flow path while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speaks. Slide 4, 1:30 to 2:15. Cut to live camera on the rig and point at each tag in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speaks. Slide 5, 2:15 to 3:00. Hand over to E1.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 speaks. Slide 6, 3:00 to 3:50.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 speaks. Slide 7, 3:50 to 4:50. Hand over to E2.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 speaks. Slide 8, 4:50 to 5:40.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 speaks. Slide 9, 5:40 to 6:15.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 speaks over live footage. Slide 10, 6:15 to 7:20. Hand over to E3 as Case 1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E3 speaks over live footage. Slide 11, 7:20 to 8:40.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E3 speaks. Slide 12, 8:40 to 9:20.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E3 speaks. Slide 13, 9:20 to 9:40.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E3 speaks. Slide 14, 9:40 to 10:00.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Lam Research Challenge 3.0  ·  Stage 2 Hardware Hustle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Automated Process-Fluid Flow Skid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Lam Research Challenge 3.0  ·  Stage 2 Hardware Hustle  ·  Team [Team name]</a:t>
            </a:r>
            <a:endParaRPr lang="en-US" sz="2000" dirty="0"/>
          </a:p>
        </p:txBody>
      </p:sp>
      <p:sp>
        <p:nvSpPr>
          <p:cNvPr id="4" name="Speaker badge M"/>
          <p:cNvSpPr/>
          <p:nvPr/>
        </p:nvSpPr>
        <p:spPr>
          <a:xfrm>
            <a:off x="64008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  ·  Mechanical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Hydraulics and build</a:t>
            </a:r>
            <a:endParaRPr lang="en-US" sz="1600" dirty="0"/>
          </a:p>
        </p:txBody>
      </p:sp>
      <p:sp>
        <p:nvSpPr>
          <p:cNvPr id="7" name="Speaker badge E1"/>
          <p:cNvSpPr/>
          <p:nvPr/>
        </p:nvSpPr>
        <p:spPr>
          <a:xfrm>
            <a:off x="338328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45720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E1  ·  Electrical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Power and wiring</a:t>
            </a:r>
            <a:endParaRPr lang="en-US" sz="1600" dirty="0"/>
          </a:p>
        </p:txBody>
      </p:sp>
      <p:sp>
        <p:nvSpPr>
          <p:cNvPr id="10" name="Speaker badge E2"/>
          <p:cNvSpPr/>
          <p:nvPr/>
        </p:nvSpPr>
        <p:spPr>
          <a:xfrm>
            <a:off x="612648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5720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E2  ·  Electrical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Control and Case 1</a:t>
            </a:r>
            <a:endParaRPr lang="en-US" sz="1600" dirty="0"/>
          </a:p>
        </p:txBody>
      </p:sp>
      <p:sp>
        <p:nvSpPr>
          <p:cNvPr id="13" name="Speaker badge E3"/>
          <p:cNvSpPr/>
          <p:nvPr/>
        </p:nvSpPr>
        <p:spPr>
          <a:xfrm>
            <a:off x="886968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829800" y="45720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E3  ·  Electrical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Case 2 and results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Set a flow, measure it, protect it, flush it</a:t>
            </a:r>
            <a:endParaRPr lang="en-US" sz="3600" dirty="0"/>
          </a:p>
        </p:txBody>
      </p:sp>
      <p:sp>
        <p:nvSpPr>
          <p:cNvPr id="3" name="Speaker badge M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</a:t>
            </a:r>
            <a:endParaRPr lang="en-US" sz="1800" dirty="0"/>
          </a:p>
        </p:txBody>
      </p:sp>
      <p:sp>
        <p:nvSpPr>
          <p:cNvPr id="5" name="Case 1 card"/>
          <p:cNvSpPr/>
          <p:nvPr/>
        </p:nvSpPr>
        <p:spPr>
          <a:xfrm>
            <a:off x="548640" y="141732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Case 1</a:t>
            </a:r>
            <a:endParaRPr lang="en-US" sz="2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and measurement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Circulate process fluid TK-01 → sump → TK-01 with P-01 at 50 % and P-02 at 100 %. Measure and totalise the return flow. If fluid is suddenly dumped into the sump, stop P-01, keep P-02 draining, then resume.</a:t>
            </a:r>
            <a:endParaRPr lang="en-US" sz="2400" dirty="0"/>
          </a:p>
        </p:txBody>
      </p:sp>
      <p:sp>
        <p:nvSpPr>
          <p:cNvPr id="7" name="Case 2 card"/>
          <p:cNvSpPr/>
          <p:nvPr/>
        </p:nvSpPr>
        <p:spPr>
          <a:xfrm>
            <a:off x="6172200" y="141732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60020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Case 2</a:t>
            </a:r>
            <a:endParaRPr lang="en-US" sz="2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Flush and shutdown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Isolate TK-01 with the solenoid, flush from the 4.2 L tank with all three pumps running, then switch everything off with the button once the flush water is gone.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 mm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pipe diameter (paper)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1–6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L/min required range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 L/min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nominal target flow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997696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0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hands on valves during the run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Case 1 P&amp;ID: follow the blue line</a:t>
            </a:r>
            <a:endParaRPr lang="en-US" sz="3600" dirty="0"/>
          </a:p>
        </p:txBody>
      </p:sp>
      <p:sp>
        <p:nvSpPr>
          <p:cNvPr id="3" name="Speaker badge M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</a:t>
            </a:r>
            <a:endParaRPr lang="en-US" sz="1800" dirty="0"/>
          </a:p>
        </p:txBody>
      </p:sp>
      <p:pic>
        <p:nvPicPr>
          <p:cNvPr id="5" name="Image 0" descr="P&amp;ID PID-01 for Cas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343" y="1234440"/>
            <a:ext cx="8081010" cy="4617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TK-01 → BV-03 → SOV-01 → T-01 → P-01 → TK-02 sump → P-02 → BV-01 → FT-01 → back to TK-01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Every component, in flow order</a:t>
            </a:r>
            <a:endParaRPr lang="en-US" sz="3600" dirty="0"/>
          </a:p>
        </p:txBody>
      </p:sp>
      <p:sp>
        <p:nvSpPr>
          <p:cNvPr id="3" name="Speaker badge M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Case 1 loop</a:t>
            </a:r>
            <a:endParaRPr lang="en-US" sz="1500" dirty="0"/>
          </a:p>
        </p:txBody>
      </p:sp>
      <p:sp>
        <p:nvSpPr>
          <p:cNvPr id="6" name="Tag TK-01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TK-01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6550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 L process tank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bottom outlet, top return</a:t>
            </a:r>
            <a:endParaRPr lang="en-US" sz="1400" dirty="0"/>
          </a:p>
        </p:txBody>
      </p:sp>
      <p:sp>
        <p:nvSpPr>
          <p:cNvPr id="9" name="Tag BV-0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BV-03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203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ball valve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maintenance shut-off, open</a:t>
            </a:r>
            <a:endParaRPr lang="en-US" sz="1400" dirty="0"/>
          </a:p>
        </p:txBody>
      </p:sp>
      <p:sp>
        <p:nvSpPr>
          <p:cNvPr id="12" name="Tag SOV-01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SOV-01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7523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 V solenoid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isolates TK-01 in Case 2</a:t>
            </a:r>
            <a:endParaRPr lang="en-US" sz="1400" dirty="0"/>
          </a:p>
        </p:txBody>
      </p:sp>
      <p:sp>
        <p:nvSpPr>
          <p:cNvPr id="15" name="Tag T-01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T-01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3009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equal tee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flush line joins here</a:t>
            </a:r>
            <a:endParaRPr lang="en-US" sz="1400" dirty="0"/>
          </a:p>
        </p:txBody>
      </p:sp>
      <p:sp>
        <p:nvSpPr>
          <p:cNvPr id="18" name="Tag P-01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P-01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496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transfer pump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50 % PWM into sump</a:t>
            </a:r>
            <a:endParaRPr lang="en-US" sz="1400" dirty="0"/>
          </a:p>
        </p:txBody>
      </p:sp>
      <p:sp>
        <p:nvSpPr>
          <p:cNvPr id="21" name="Tag TK-02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TK-02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982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4.2 L sump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top inlet, bottom outlet</a:t>
            </a:r>
            <a:endParaRPr lang="en-US" sz="1400" dirty="0"/>
          </a:p>
        </p:txBody>
      </p:sp>
      <p:sp>
        <p:nvSpPr>
          <p:cNvPr id="24" name="Tag P-02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4983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P-02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9469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return pump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100 % PWM</a:t>
            </a:r>
            <a:endParaRPr lang="en-US" sz="1400" dirty="0"/>
          </a:p>
        </p:txBody>
      </p:sp>
      <p:sp>
        <p:nvSpPr>
          <p:cNvPr id="27" name="Tag BV-01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BV-01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" y="54955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ball valve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throttle, sets the flow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Flush branch</a:t>
            </a:r>
            <a:endParaRPr lang="en-US" sz="1500" dirty="0"/>
          </a:p>
        </p:txBody>
      </p:sp>
      <p:sp>
        <p:nvSpPr>
          <p:cNvPr id="31" name="Tag TK-03"/>
          <p:cNvSpPr/>
          <p:nvPr/>
        </p:nvSpPr>
        <p:spPr>
          <a:xfrm>
            <a:off x="4297680" y="169164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5196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TK-03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64608" y="16550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4.2 L flush tank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bottom outlet, vented top</a:t>
            </a:r>
            <a:endParaRPr lang="en-US" sz="1400" dirty="0"/>
          </a:p>
        </p:txBody>
      </p:sp>
      <p:sp>
        <p:nvSpPr>
          <p:cNvPr id="34" name="Tag BV-02"/>
          <p:cNvSpPr/>
          <p:nvPr/>
        </p:nvSpPr>
        <p:spPr>
          <a:xfrm>
            <a:off x="4297680" y="224028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519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BV-02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864608" y="2203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ball valve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left open; idle P-03 holds back</a:t>
            </a:r>
            <a:endParaRPr lang="en-US" sz="1400" dirty="0"/>
          </a:p>
        </p:txBody>
      </p:sp>
      <p:sp>
        <p:nvSpPr>
          <p:cNvPr id="37" name="Tag P-03"/>
          <p:cNvSpPr/>
          <p:nvPr/>
        </p:nvSpPr>
        <p:spPr>
          <a:xfrm>
            <a:off x="4297680" y="278892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5196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P-03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64608" y="27523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flush pump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feeds the tee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Instruments</a:t>
            </a:r>
            <a:endParaRPr lang="en-US" sz="1500" dirty="0"/>
          </a:p>
        </p:txBody>
      </p:sp>
      <p:sp>
        <p:nvSpPr>
          <p:cNvPr id="41" name="Tag FT-01"/>
          <p:cNvSpPr/>
          <p:nvPr/>
        </p:nvSpPr>
        <p:spPr>
          <a:xfrm>
            <a:off x="4297680" y="393192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5196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FT-01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864608" y="38953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flow transmitter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YF-S401 turbine, pulses</a:t>
            </a:r>
            <a:endParaRPr lang="en-US" sz="1400" dirty="0"/>
          </a:p>
        </p:txBody>
      </p:sp>
      <p:sp>
        <p:nvSpPr>
          <p:cNvPr id="44" name="Tag LSH-01"/>
          <p:cNvSpPr/>
          <p:nvPr/>
        </p:nvSpPr>
        <p:spPr>
          <a:xfrm>
            <a:off x="4297680" y="448056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5196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LSH-01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864608" y="44439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float switch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sump high level</a:t>
            </a:r>
            <a:endParaRPr lang="en-US" sz="1400" dirty="0"/>
          </a:p>
        </p:txBody>
      </p:sp>
      <p:sp>
        <p:nvSpPr>
          <p:cNvPr id="47" name="Tag HS-01"/>
          <p:cNvSpPr/>
          <p:nvPr/>
        </p:nvSpPr>
        <p:spPr>
          <a:xfrm>
            <a:off x="4297680" y="5029200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5196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HS-01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864608" y="49926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ON/OFF button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starts the sequence</a:t>
            </a:r>
            <a:endParaRPr lang="en-US" sz="1400" dirty="0"/>
          </a:p>
        </p:txBody>
      </p:sp>
      <p:pic>
        <p:nvPicPr>
          <p:cNvPr id="50" name="Image 0" descr="Pum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691640"/>
            <a:ext cx="1143000" cy="2011680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8183880" y="3749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Pump</a:t>
            </a:r>
            <a:endParaRPr lang="en-US" sz="1100" dirty="0"/>
          </a:p>
        </p:txBody>
      </p:sp>
      <p:pic>
        <p:nvPicPr>
          <p:cNvPr id="52" name="Image 1" descr="FT-0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45752" y="1691640"/>
            <a:ext cx="1143000" cy="2011680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9445752" y="3749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FT-01</a:t>
            </a:r>
            <a:endParaRPr lang="en-US" sz="1100" dirty="0"/>
          </a:p>
        </p:txBody>
      </p:sp>
      <p:pic>
        <p:nvPicPr>
          <p:cNvPr id="54" name="Image 2" descr="SOV-01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07624" y="1691640"/>
            <a:ext cx="1143000" cy="201168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10707624" y="3749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SOV-01</a:t>
            </a:r>
            <a:endParaRPr lang="en-US" sz="1100" dirty="0"/>
          </a:p>
        </p:txBody>
      </p:sp>
      <p:sp>
        <p:nvSpPr>
          <p:cNvPr id="56" name="Screenshot slot"/>
          <p:cNvSpPr/>
          <p:nvPr/>
        </p:nvSpPr>
        <p:spPr>
          <a:xfrm>
            <a:off x="8183880" y="4206240"/>
            <a:ext cx="3648456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7" name="Text 52"/>
          <p:cNvSpPr txBox="1"/>
          <p:nvPr/>
        </p:nvSpPr>
        <p:spPr>
          <a:xfrm>
            <a:off x="8458200" y="4206240"/>
            <a:ext cx="30998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Insert screenshot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Labelled photo of our finished skid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Built for the tube we actually have</a:t>
            </a:r>
            <a:endParaRPr lang="en-US" sz="3600" dirty="0"/>
          </a:p>
        </p:txBody>
      </p:sp>
      <p:sp>
        <p:nvSpPr>
          <p:cNvPr id="3" name="Speaker badge M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</a:t>
            </a:r>
            <a:endParaRPr lang="en-US" sz="1800" dirty="0"/>
          </a:p>
        </p:txBody>
      </p:sp>
      <p:sp>
        <p:nvSpPr>
          <p:cNvPr id="5" name="Tube bore card"/>
          <p:cNvSpPr/>
          <p:nvPr/>
        </p:nvSpPr>
        <p:spPr>
          <a:xfrm>
            <a:off x="548640" y="1325880"/>
            <a:ext cx="51206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Paper says 8 mm. The kit tube is 8 mm OD × 5 mm ID.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 3 L/min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8 mm bore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5 mm bore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Velocity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0.99 m/s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</a:rPr>
                        <a:t>2.55 m/s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Reynolds no.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7 960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</a:rPr>
                        <a:t>12 700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Friction loss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≈ 2 kPa/m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</a:rPr>
                        <a:t>≈ 19 kPa/m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4343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Same flow, 2.56 × faster water and about 9 × the friction. That is why our loop delivers about 2 to 2.5 L/min, not the pump's 6.1 L/min free-flow rating.</a:t>
            </a:r>
            <a:endParaRPr lang="en-US" sz="1500" dirty="0"/>
          </a:p>
        </p:txBody>
      </p:sp>
      <p:sp>
        <p:nvSpPr>
          <p:cNvPr id="9" name="Step 1"/>
          <p:cNvSpPr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35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Joints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Brass bulkhead with a washer each side at every tank port; Teflon tape on every thread.</a:t>
            </a:r>
            <a:endParaRPr lang="en-US" sz="1600" dirty="0"/>
          </a:p>
        </p:txBody>
      </p:sp>
      <p:sp>
        <p:nvSpPr>
          <p:cNvPr id="12" name="Step 2"/>
          <p:cNvSpPr/>
          <p:nvPr/>
        </p:nvSpPr>
        <p:spPr>
          <a:xfrm>
            <a:off x="603504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5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Pump ports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10 × 8 mm blue tube with reducers only at the pumps; 5 mm PU tube elsewhere.</a:t>
            </a:r>
            <a:endParaRPr lang="en-US" sz="1600" dirty="0"/>
          </a:p>
        </p:txBody>
      </p:sp>
      <p:sp>
        <p:nvSpPr>
          <p:cNvPr id="15" name="Step 3"/>
          <p:cNvSpPr/>
          <p:nvPr/>
        </p:nvSpPr>
        <p:spPr>
          <a:xfrm>
            <a:off x="603504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35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749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Leak test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Water in, pumps off, then running, before any electronics came near the wet side.</a:t>
            </a:r>
            <a:endParaRPr lang="en-US" sz="1600" dirty="0"/>
          </a:p>
        </p:txBody>
      </p:sp>
      <p:sp>
        <p:nvSpPr>
          <p:cNvPr id="18" name="Step 4"/>
          <p:cNvSpPr/>
          <p:nvPr/>
        </p:nvSpPr>
        <p:spPr>
          <a:xfrm>
            <a:off x="6035040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49377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Safe limits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close BV-01 with P-02 running (135 psi cutoff). Start TK-01 at about 5 L so the flush cannot overflow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12 V supply, one ESP32, three drivers</a:t>
            </a:r>
            <a:endParaRPr lang="en-US" sz="3600" dirty="0"/>
          </a:p>
        </p:txBody>
      </p:sp>
      <p:sp>
        <p:nvSpPr>
          <p:cNvPr id="3" name="Speaker badge E1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E1</a:t>
            </a:r>
            <a:endParaRPr lang="en-US" sz="1800" dirty="0"/>
          </a:p>
        </p:txBody>
      </p:sp>
      <p:sp>
        <p:nvSpPr>
          <p:cNvPr id="5" name="12 V SMPS"/>
          <p:cNvSpPr/>
          <p:nvPr/>
        </p:nvSpPr>
        <p:spPr>
          <a:xfrm>
            <a:off x="548640" y="29718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 V SMPS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LRS-350-12, 29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429000"/>
            <a:ext cx="548640" cy="914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8" name="Custom PCB"/>
          <p:cNvSpPr/>
          <p:nvPr/>
        </p:nvSpPr>
        <p:spPr>
          <a:xfrm>
            <a:off x="2834640" y="2103120"/>
            <a:ext cx="2377440" cy="26517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103120"/>
            <a:ext cx="23774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 PCB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ESP32 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40 A fuse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5212080" y="1709928"/>
            <a:ext cx="640080" cy="1719072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11" name="BTS7960 #1"/>
          <p:cNvSpPr/>
          <p:nvPr/>
        </p:nvSpPr>
        <p:spPr>
          <a:xfrm>
            <a:off x="5852160" y="132588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BTS7960 #1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U2 · P1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1709928"/>
            <a:ext cx="457200" cy="914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14" name="P-01"/>
          <p:cNvSpPr/>
          <p:nvPr/>
        </p:nvSpPr>
        <p:spPr>
          <a:xfrm>
            <a:off x="8046720" y="1389888"/>
            <a:ext cx="1005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1389888"/>
            <a:ext cx="1005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P-01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5212080" y="2670048"/>
            <a:ext cx="640080" cy="758952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17" name="BTS7960 #2"/>
          <p:cNvSpPr/>
          <p:nvPr/>
        </p:nvSpPr>
        <p:spPr>
          <a:xfrm>
            <a:off x="5852160" y="228600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0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BTS7960 #2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U3 · P2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2670048"/>
            <a:ext cx="457200" cy="914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20" name="P-02"/>
          <p:cNvSpPr/>
          <p:nvPr/>
        </p:nvSpPr>
        <p:spPr>
          <a:xfrm>
            <a:off x="8046720" y="2350008"/>
            <a:ext cx="1005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2350008"/>
            <a:ext cx="1005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P-02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12080" y="3429000"/>
            <a:ext cx="640080" cy="201168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23" name="BTS7960 #3"/>
          <p:cNvSpPr/>
          <p:nvPr/>
        </p:nvSpPr>
        <p:spPr>
          <a:xfrm>
            <a:off x="5852160" y="324612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BTS7960 #3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U4 · P3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3630168"/>
            <a:ext cx="457200" cy="914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26" name="P-03"/>
          <p:cNvSpPr/>
          <p:nvPr/>
        </p:nvSpPr>
        <p:spPr>
          <a:xfrm>
            <a:off x="8046720" y="3310128"/>
            <a:ext cx="1005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0" y="3310128"/>
            <a:ext cx="1005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P-03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12080" y="3429000"/>
            <a:ext cx="640080" cy="1161288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29" name="D4184 MOSFET"/>
          <p:cNvSpPr/>
          <p:nvPr/>
        </p:nvSpPr>
        <p:spPr>
          <a:xfrm>
            <a:off x="5852160" y="420624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420624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D4184 MOSFET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 27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89520" y="4590288"/>
            <a:ext cx="457200" cy="914"/>
          </a:xfrm>
          <a:prstGeom prst="line">
            <a:avLst/>
          </a:prstGeom>
          <a:noFill/>
          <a:ln w="19050">
            <a:solidFill>
              <a:srgbClr val="1E88B6"/>
            </a:solidFill>
            <a:prstDash val="solid"/>
            <a:tailEnd type="triangle"/>
          </a:ln>
        </p:spPr>
      </p:sp>
      <p:sp>
        <p:nvSpPr>
          <p:cNvPr id="32" name="SOV-01"/>
          <p:cNvSpPr/>
          <p:nvPr/>
        </p:nvSpPr>
        <p:spPr>
          <a:xfrm>
            <a:off x="8046720" y="4270248"/>
            <a:ext cx="1005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46720" y="4270248"/>
            <a:ext cx="1005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SOV-01</a:t>
            </a:r>
            <a:endParaRPr lang="en-US" sz="1400" dirty="0"/>
          </a:p>
        </p:txBody>
      </p:sp>
      <p:sp>
        <p:nvSpPr>
          <p:cNvPr id="34" name="FT-01 pulses"/>
          <p:cNvSpPr/>
          <p:nvPr/>
        </p:nvSpPr>
        <p:spPr>
          <a:xfrm>
            <a:off x="548640" y="52578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25780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FT-01 pulses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 14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 flipV="1">
            <a:off x="1280160" y="4754880"/>
            <a:ext cx="2743200" cy="502920"/>
          </a:xfrm>
          <a:prstGeom prst="line">
            <a:avLst/>
          </a:prstGeom>
          <a:noFill/>
          <a:ln w="19050">
            <a:solidFill>
              <a:srgbClr val="2A9D7C"/>
            </a:solidFill>
            <a:prstDash val="solid"/>
            <a:tailEnd type="triangle"/>
          </a:ln>
        </p:spPr>
      </p:sp>
      <p:sp>
        <p:nvSpPr>
          <p:cNvPr id="37" name="LSH-01 float"/>
          <p:cNvSpPr/>
          <p:nvPr/>
        </p:nvSpPr>
        <p:spPr>
          <a:xfrm>
            <a:off x="2148840" y="52578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148840" y="525780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LSH-01 float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 35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 flipV="1">
            <a:off x="2880360" y="4754880"/>
            <a:ext cx="1143000" cy="502920"/>
          </a:xfrm>
          <a:prstGeom prst="line">
            <a:avLst/>
          </a:prstGeom>
          <a:noFill/>
          <a:ln w="19050">
            <a:solidFill>
              <a:srgbClr val="2A9D7C"/>
            </a:solidFill>
            <a:prstDash val="solid"/>
            <a:tailEnd type="triangle"/>
          </a:ln>
        </p:spPr>
      </p:sp>
      <p:sp>
        <p:nvSpPr>
          <p:cNvPr id="40" name="HS-01 button"/>
          <p:cNvSpPr/>
          <p:nvPr/>
        </p:nvSpPr>
        <p:spPr>
          <a:xfrm>
            <a:off x="3749040" y="525780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749040" y="525780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HS-01 button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 34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 flipH="1" flipV="1">
            <a:off x="4023360" y="4754880"/>
            <a:ext cx="457200" cy="502920"/>
          </a:xfrm>
          <a:prstGeom prst="line">
            <a:avLst/>
          </a:prstGeom>
          <a:noFill/>
          <a:ln w="19050">
            <a:solidFill>
              <a:srgbClr val="2A9D7C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5852160" y="5257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Outputs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PWM + enable to each driver</a:t>
            </a:r>
            <a:endParaRPr lang="en-US" sz="1300" dirty="0"/>
          </a:p>
        </p:txBody>
      </p:sp>
      <p:pic>
        <p:nvPicPr>
          <p:cNvPr id="44" name="Image 0" descr="Kit PCB and driv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72600" y="1325880"/>
            <a:ext cx="2331720" cy="274320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9372600" y="4297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≈ 11 A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worst case in Case 2: three pumps at up to 3.5 A plus the solenoid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faults, one symptom: nothing moves</a:t>
            </a:r>
            <a:endParaRPr lang="en-US" sz="3600" dirty="0"/>
          </a:p>
        </p:txBody>
      </p:sp>
      <p:sp>
        <p:nvSpPr>
          <p:cNvPr id="3" name="Speaker badge E1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E1</a:t>
            </a:r>
            <a:endParaRPr lang="en-US" sz="1800" dirty="0"/>
          </a:p>
        </p:txBody>
      </p:sp>
      <p:sp>
        <p:nvSpPr>
          <p:cNvPr id="5" name="P-02 driver dead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P-02 driver dead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R_PWM2 trace on the PCB (organiser notice).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Drive P-02 from L_PWM2, tie the driver's unused RPWM input high, invert in firmware.</a:t>
            </a:r>
            <a:endParaRPr lang="en-US" sz="1400" dirty="0"/>
          </a:p>
        </p:txBody>
      </p:sp>
      <p:sp>
        <p:nvSpPr>
          <p:cNvPr id="8" name="FT-01 reads 0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FT-01 reads 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9456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Zero edges on GPIO 14: red and black swapped on S-V-G, so the Hall chip had reversed supply.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→ V, black → G, yellow → S. Then mounted it vertically, flow upward, so it runs full; flat, it under-read.</a:t>
            </a:r>
            <a:endParaRPr lang="en-US" sz="1400" dirty="0"/>
          </a:p>
        </p:txBody>
      </p:sp>
      <p:sp>
        <p:nvSpPr>
          <p:cNvPr id="11" name="Button ignored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554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Button ignored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94560"/>
            <a:ext cx="2971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Shorting SW to GND worked, the switch did not.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Wired across diagonal legs of the tact switch.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button steps through every case</a:t>
            </a:r>
            <a:endParaRPr lang="en-US" sz="3600" dirty="0"/>
          </a:p>
        </p:txBody>
      </p:sp>
      <p:sp>
        <p:nvSpPr>
          <p:cNvPr id="3" name="Speaker badge E2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E2</a:t>
            </a:r>
            <a:endParaRPr lang="en-US" sz="1800" dirty="0"/>
          </a:p>
        </p:txBody>
      </p:sp>
      <p:sp>
        <p:nvSpPr>
          <p:cNvPr id="5" name="State IDLE"/>
          <p:cNvSpPr/>
          <p:nvPr/>
        </p:nvSpPr>
        <p:spPr>
          <a:xfrm>
            <a:off x="548640" y="160020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IDLE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off, SOV closed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68880" y="2286000"/>
            <a:ext cx="365760" cy="0"/>
          </a:xfrm>
          <a:prstGeom prst="line">
            <a:avLst/>
          </a:prstGeom>
          <a:noFill/>
          <a:ln w="22225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01168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button</a:t>
            </a:r>
            <a:endParaRPr lang="en-US" sz="1100" dirty="0"/>
          </a:p>
        </p:txBody>
      </p:sp>
      <p:sp>
        <p:nvSpPr>
          <p:cNvPr id="9" name="State CASE 1"/>
          <p:cNvSpPr/>
          <p:nvPr/>
        </p:nvSpPr>
        <p:spPr>
          <a:xfrm>
            <a:off x="2880360" y="160020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1800" y="1600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CASE 1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SOV open, P-01 50 %, P-02 100 %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00600" y="2286000"/>
            <a:ext cx="365760" cy="0"/>
          </a:xfrm>
          <a:prstGeom prst="line">
            <a:avLst/>
          </a:prstGeom>
          <a:noFill/>
          <a:ln w="22225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34340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button (or 150 s)</a:t>
            </a:r>
            <a:endParaRPr lang="en-US" sz="1100" dirty="0"/>
          </a:p>
        </p:txBody>
      </p:sp>
      <p:sp>
        <p:nvSpPr>
          <p:cNvPr id="13" name="State FLUSH PREP"/>
          <p:cNvSpPr/>
          <p:nvPr/>
        </p:nvSpPr>
        <p:spPr>
          <a:xfrm>
            <a:off x="5212080" y="160020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1600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FLUSH PREP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SOV closed, P-01 paused, 15 s hold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132320" y="2286000"/>
            <a:ext cx="365760" cy="0"/>
          </a:xfrm>
          <a:prstGeom prst="line">
            <a:avLst/>
          </a:prstGeom>
          <a:noFill/>
          <a:ln w="22225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67512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after 15 s</a:t>
            </a:r>
            <a:endParaRPr lang="en-US" sz="1100" dirty="0"/>
          </a:p>
        </p:txBody>
      </p:sp>
      <p:sp>
        <p:nvSpPr>
          <p:cNvPr id="17" name="State FLUSH"/>
          <p:cNvSpPr/>
          <p:nvPr/>
        </p:nvSpPr>
        <p:spPr>
          <a:xfrm>
            <a:off x="7543800" y="160020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1600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FLUSH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P-01, P-02, P-03 at 100 %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365760" cy="0"/>
          </a:xfrm>
          <a:prstGeom prst="line">
            <a:avLst/>
          </a:prstGeom>
          <a:noFill/>
          <a:ln w="22225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00684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button</a:t>
            </a:r>
            <a:endParaRPr lang="en-US" sz="1100" dirty="0"/>
          </a:p>
        </p:txBody>
      </p:sp>
      <p:sp>
        <p:nvSpPr>
          <p:cNvPr id="21" name="State DONE"/>
          <p:cNvSpPr/>
          <p:nvPr/>
        </p:nvSpPr>
        <p:spPr>
          <a:xfrm>
            <a:off x="9875520" y="160020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66960" y="1600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DONE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off, SOV closed</a:t>
            </a:r>
            <a:endParaRPr lang="en-US" sz="1700" dirty="0"/>
          </a:p>
        </p:txBody>
      </p:sp>
      <p:sp>
        <p:nvSpPr>
          <p:cNvPr id="23" name="Tag 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3959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886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Float high for 300 ms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P-01 (and P-03 in the flush) stop; P-02 keeps draining the sump.</a:t>
            </a:r>
            <a:endParaRPr lang="en-US" sz="1500" dirty="0"/>
          </a:p>
        </p:txBody>
      </p:sp>
      <p:sp>
        <p:nvSpPr>
          <p:cNvPr id="26" name="Tag 2"/>
          <p:cNvSpPr/>
          <p:nvPr/>
        </p:nvSpPr>
        <p:spPr>
          <a:xfrm>
            <a:off x="6172200" y="3959352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3959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3886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Float clear for 3 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P-01 restarts. The delay stops a sloshing surface from chattering the pump.</a:t>
            </a:r>
            <a:endParaRPr lang="en-US" sz="1500" dirty="0"/>
          </a:p>
        </p:txBody>
      </p:sp>
      <p:sp>
        <p:nvSpPr>
          <p:cNvPr id="29" name="Tag 3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5102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0.6 s soft start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pump ramps up, so three motors never hit the SMPS at once.</a:t>
            </a:r>
            <a:endParaRPr lang="en-US" sz="1500" dirty="0"/>
          </a:p>
        </p:txBody>
      </p:sp>
      <p:sp>
        <p:nvSpPr>
          <p:cNvPr id="32" name="Tag 4"/>
          <p:cNvSpPr/>
          <p:nvPr/>
        </p:nvSpPr>
        <p:spPr>
          <a:xfrm>
            <a:off x="6172200" y="5102352"/>
            <a:ext cx="457200" cy="45720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26480" y="5102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Fail-safe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Reset or power loss lands in IDLE with the solenoid closed. Typing stop ends everything from any state.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pulses to litres</a:t>
            </a:r>
            <a:endParaRPr lang="en-US" sz="3600" dirty="0"/>
          </a:p>
        </p:txBody>
      </p:sp>
      <p:sp>
        <p:nvSpPr>
          <p:cNvPr id="3" name="Speaker badge E2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E2</a:t>
            </a:r>
            <a:endParaRPr lang="en-US" sz="1800" dirty="0"/>
          </a:p>
        </p:txBody>
      </p:sp>
      <p:sp>
        <p:nvSpPr>
          <p:cNvPr id="5" name="Step Pulse"/>
          <p:cNvSpPr/>
          <p:nvPr/>
        </p:nvSpPr>
        <p:spPr>
          <a:xfrm>
            <a:off x="548640" y="1463040"/>
            <a:ext cx="2103120" cy="2468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Tag 1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Pulse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FT-01 rotor turns; each Hall pulse fires an interrupt on GPIO 14</a:t>
            </a:r>
            <a:endParaRPr lang="en-US" sz="1800" dirty="0"/>
          </a:p>
        </p:txBody>
      </p:sp>
      <p:sp>
        <p:nvSpPr>
          <p:cNvPr id="9" name="Step Filter"/>
          <p:cNvSpPr/>
          <p:nvPr/>
        </p:nvSpPr>
        <p:spPr>
          <a:xfrm>
            <a:off x="2788920" y="1463040"/>
            <a:ext cx="2103120" cy="2468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Tag 2"/>
          <p:cNvSpPr/>
          <p:nvPr/>
        </p:nvSpPr>
        <p:spPr>
          <a:xfrm>
            <a:off x="3017520" y="164592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Filter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Edges closer than 300 µs rejected; 6 L/min is only ≈ 590 Hz</a:t>
            </a:r>
            <a:endParaRPr lang="en-US" sz="1800" dirty="0"/>
          </a:p>
        </p:txBody>
      </p:sp>
      <p:sp>
        <p:nvSpPr>
          <p:cNvPr id="13" name="Step Frequency"/>
          <p:cNvSpPr/>
          <p:nvPr/>
        </p:nvSpPr>
        <p:spPr>
          <a:xfrm>
            <a:off x="5029200" y="1463040"/>
            <a:ext cx="2103120" cy="2468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Tag 3"/>
          <p:cNvSpPr/>
          <p:nvPr/>
        </p:nvSpPr>
        <p:spPr>
          <a:xfrm>
            <a:off x="5257800" y="164592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Frequency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0.5 s:  f = N / t</a:t>
            </a:r>
            <a:endParaRPr lang="en-US" sz="1800" dirty="0"/>
          </a:p>
        </p:txBody>
      </p:sp>
      <p:sp>
        <p:nvSpPr>
          <p:cNvPr id="17" name="Step Flow"/>
          <p:cNvSpPr/>
          <p:nvPr/>
        </p:nvSpPr>
        <p:spPr>
          <a:xfrm>
            <a:off x="7269480" y="1463040"/>
            <a:ext cx="2103120" cy="2468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8" name="Tag 4"/>
          <p:cNvSpPr/>
          <p:nvPr/>
        </p:nvSpPr>
        <p:spPr>
          <a:xfrm>
            <a:off x="7498080" y="164592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Flow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 = a·f + b  (our calibration)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mL/s = L/min × 1000 / 60</a:t>
            </a:r>
            <a:endParaRPr lang="en-US" sz="1800" dirty="0"/>
          </a:p>
        </p:txBody>
      </p:sp>
      <p:sp>
        <p:nvSpPr>
          <p:cNvPr id="21" name="Step Total"/>
          <p:cNvSpPr/>
          <p:nvPr/>
        </p:nvSpPr>
        <p:spPr>
          <a:xfrm>
            <a:off x="9509760" y="1463040"/>
            <a:ext cx="2103120" cy="24688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Tag 5"/>
          <p:cNvSpPr/>
          <p:nvPr/>
        </p:nvSpPr>
        <p:spPr>
          <a:xfrm>
            <a:off x="9738360" y="164592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Total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litres returned = Σ Q·Δt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streamed as CSV, plotted live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434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≈ 98 Hz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 L/min: datasheet start value, replaced by our fit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3434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50 mL/s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equals the 3 L/min target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3434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0.5 s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logging period, one CSV row per sample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Case 1 live: sudden charge into the sump</a:t>
            </a:r>
            <a:endParaRPr lang="en-US" sz="3600" dirty="0"/>
          </a:p>
        </p:txBody>
      </p:sp>
      <p:sp>
        <p:nvSpPr>
          <p:cNvPr id="3" name="Speaker badge E2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E2</a:t>
            </a:r>
            <a:endParaRPr lang="en-US" sz="1800" dirty="0"/>
          </a:p>
        </p:txBody>
      </p:sp>
      <p:sp>
        <p:nvSpPr>
          <p:cNvPr id="5" name="Even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0100" y="1920240"/>
            <a:ext cx="0" cy="594360"/>
          </a:xfrm>
          <a:prstGeom prst="line">
            <a:avLst/>
          </a:prstGeom>
          <a:noFill/>
          <a:ln w="25400">
            <a:solidFill>
              <a:srgbClr val="A9D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325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Press 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SOV-01 clicks open, P-01 50 %, P-02 100 %</a:t>
            </a:r>
            <a:endParaRPr lang="en-US" sz="1600" dirty="0"/>
          </a:p>
        </p:txBody>
      </p:sp>
      <p:sp>
        <p:nvSpPr>
          <p:cNvPr id="9" name="Event 2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" y="3090672"/>
            <a:ext cx="0" cy="594360"/>
          </a:xfrm>
          <a:prstGeom prst="line">
            <a:avLst/>
          </a:prstGeom>
          <a:noFill/>
          <a:ln w="25400">
            <a:solidFill>
              <a:srgbClr val="A9D3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80160" y="24963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Steady flow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FT-01 ≈ [__] L/min = [__] mL/s, total climbing</a:t>
            </a:r>
            <a:endParaRPr lang="en-US" sz="1600" dirty="0"/>
          </a:p>
        </p:txBody>
      </p:sp>
      <p:sp>
        <p:nvSpPr>
          <p:cNvPr id="13" name="Event 3"/>
          <p:cNvSpPr/>
          <p:nvPr/>
        </p:nvSpPr>
        <p:spPr>
          <a:xfrm>
            <a:off x="548640" y="371246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" y="4261104"/>
            <a:ext cx="0" cy="594360"/>
          </a:xfrm>
          <a:prstGeom prst="line">
            <a:avLst/>
          </a:prstGeom>
          <a:noFill/>
          <a:ln w="25400">
            <a:solidFill>
              <a:srgbClr val="A9D3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36667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Pour ≈ 1 L into sump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LSH-01 trips: P-01 stops, P-02 keeps running</a:t>
            </a:r>
            <a:endParaRPr lang="en-US" sz="1600" dirty="0"/>
          </a:p>
        </p:txBody>
      </p:sp>
      <p:sp>
        <p:nvSpPr>
          <p:cNvPr id="17" name="Event 4"/>
          <p:cNvSpPr/>
          <p:nvPr/>
        </p:nvSpPr>
        <p:spPr>
          <a:xfrm>
            <a:off x="548640" y="48828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3717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Level falls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float clear 3 s, P-01 restarts, loop resumes</a:t>
            </a:r>
            <a:endParaRPr lang="en-US" sz="1600" dirty="0"/>
          </a:p>
        </p:txBody>
      </p:sp>
      <p:sp>
        <p:nvSpPr>
          <p:cNvPr id="20" name="Screenshot slot"/>
          <p:cNvSpPr/>
          <p:nvPr/>
        </p:nvSpPr>
        <p:spPr>
          <a:xfrm>
            <a:off x="5486400" y="1325880"/>
            <a:ext cx="6172200" cy="3657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760720" y="1325880"/>
            <a:ext cx="5623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Insert screenshot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Flow vs time in mL/s from flow_logger.py, with the sump-charge event marked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5120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[__] L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total returned to TK-01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5120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[__] L/min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steady return flow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Case 2 live: flush, then stop on the button</a:t>
            </a:r>
            <a:endParaRPr lang="en-US" sz="3600" dirty="0"/>
          </a:p>
        </p:txBody>
      </p:sp>
      <p:sp>
        <p:nvSpPr>
          <p:cNvPr id="3" name="Speaker badge E3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E3</a:t>
            </a:r>
            <a:endParaRPr lang="en-US" sz="1800" dirty="0"/>
          </a:p>
        </p:txBody>
      </p:sp>
      <p:pic>
        <p:nvPicPr>
          <p:cNvPr id="5" name="Image 0" descr="P&amp;ID PID-02 for Cas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88086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349240"/>
            <a:ext cx="6880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TK-03 → BV-02 → P-03 → T-01 → P-01 → sump → P-02 → FT-01 → TK-01</a:t>
            </a:r>
            <a:endParaRPr lang="en-US" sz="1400" dirty="0"/>
          </a:p>
        </p:txBody>
      </p:sp>
      <p:sp>
        <p:nvSpPr>
          <p:cNvPr id="7" name="Stop rule card"/>
          <p:cNvSpPr/>
          <p:nvPr/>
        </p:nvSpPr>
        <p:spPr>
          <a:xfrm>
            <a:off x="7680960" y="1280160"/>
            <a:ext cx="3977640" cy="4754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55280" y="146304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the flush tank is empty and FT-01 falls toward zero, one press of the button switches every pump off. SOV-01 stays closed.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float switch still stops P-01 and P-03 if the sump runs high during the flush.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Flush total [__] L vs 4.2 L put 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We calibrated FT-01 instead of trusting it</a:t>
            </a:r>
            <a:endParaRPr lang="en-US" sz="3600" dirty="0"/>
          </a:p>
        </p:txBody>
      </p:sp>
      <p:sp>
        <p:nvSpPr>
          <p:cNvPr id="3" name="Speaker badge E3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E3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822960"/>
                <a:gridCol w="914400"/>
                <a:gridCol w="914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 (s)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 (Hz)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 (L)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 (L/min)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 = a·f + b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[__]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43891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[__]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779776" y="43891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[__]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R²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895344" y="43891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[__] %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max err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010912" y="43891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[__] %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avg err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Five timed bucket trials: f = N/t, Q = V/t, least-squares fit.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0" y="1280160"/>
          <a:ext cx="5257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400800" y="539496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Measured: the loop tops out near [2–2.5] L/min, so 6 L/min is out of reach with a 5 mm bore, BV-01 and the FT-01 nozzle.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ball valve is a coarse throttle</a:t>
            </a:r>
            <a:endParaRPr lang="en-US" sz="3600" dirty="0"/>
          </a:p>
        </p:txBody>
      </p:sp>
      <p:sp>
        <p:nvSpPr>
          <p:cNvPr id="3" name="Speaker badge E3"/>
          <p:cNvSpPr/>
          <p:nvPr/>
        </p:nvSpPr>
        <p:spPr>
          <a:xfrm>
            <a:off x="10927080" y="365760"/>
            <a:ext cx="749808" cy="7498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7080" y="3657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E3</a:t>
            </a:r>
            <a:endParaRPr lang="en-US" sz="1800" dirty="0"/>
          </a:p>
        </p:txBody>
      </p:sp>
      <p:sp>
        <p:nvSpPr>
          <p:cNvPr id="5" name="Screenshot slot"/>
          <p:cNvSpPr/>
          <p:nvPr/>
        </p:nvSpPr>
        <p:spPr>
          <a:xfrm>
            <a:off x="548640" y="1325880"/>
            <a:ext cx="6035040" cy="475488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Insert screenshot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Q2.1 graph: BV-01 position (%) vs flow (L/min) at 25, 50, 75, 100 %</a:t>
            </a:r>
            <a:endParaRPr lang="en-US" sz="1600" dirty="0"/>
          </a:p>
        </p:txBody>
      </p:sp>
      <p:sp>
        <p:nvSpPr>
          <p:cNvPr id="7" name="Tag 1"/>
          <p:cNvSpPr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4173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Quick opening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Most of the flow arrives in the first half of the quarter turn.</a:t>
            </a:r>
            <a:endParaRPr lang="en-US" sz="1700" dirty="0"/>
          </a:p>
        </p:txBody>
      </p:sp>
      <p:sp>
        <p:nvSpPr>
          <p:cNvPr id="10" name="Tag 2"/>
          <p:cNvSpPr/>
          <p:nvPr/>
        </p:nvSpPr>
        <p:spPr>
          <a:xfrm>
            <a:off x="6949440" y="301752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3017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Flat at the top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Above 75 % the pump, tubing and FT-01 set the flow, not the valve.</a:t>
            </a:r>
            <a:endParaRPr lang="en-US" sz="1700" dirty="0"/>
          </a:p>
        </p:txBody>
      </p:sp>
      <p:sp>
        <p:nvSpPr>
          <p:cNvPr id="13" name="Tag 3"/>
          <p:cNvSpPr/>
          <p:nvPr/>
        </p:nvSpPr>
        <p:spPr>
          <a:xfrm>
            <a:off x="6949440" y="4572000"/>
            <a:ext cx="502920" cy="5029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4572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526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Our decision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Hold 3 L/min by trimming BV-01 and P-02 PWM, not by valve angle alone.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One button. Measured, protected, flushed.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Case 1 and Case 2 in one run, stepped by the ON/OFF button, with no hand on a valve.</a:t>
            </a:r>
            <a:endParaRPr lang="en-US" sz="2000" dirty="0"/>
          </a:p>
        </p:txBody>
      </p:sp>
      <p:sp>
        <p:nvSpPr>
          <p:cNvPr id="4" name="Speaker badge M"/>
          <p:cNvSpPr/>
          <p:nvPr/>
        </p:nvSpPr>
        <p:spPr>
          <a:xfrm>
            <a:off x="64008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</a:t>
            </a:r>
            <a:endParaRPr lang="en-US" sz="1800" dirty="0"/>
          </a:p>
        </p:txBody>
      </p:sp>
      <p:sp>
        <p:nvSpPr>
          <p:cNvPr id="6" name="Speaker badge E1"/>
          <p:cNvSpPr/>
          <p:nvPr/>
        </p:nvSpPr>
        <p:spPr>
          <a:xfrm>
            <a:off x="169164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E1</a:t>
            </a:r>
            <a:endParaRPr lang="en-US" sz="1800" dirty="0"/>
          </a:p>
        </p:txBody>
      </p:sp>
      <p:sp>
        <p:nvSpPr>
          <p:cNvPr id="8" name="Speaker badge E2"/>
          <p:cNvSpPr/>
          <p:nvPr/>
        </p:nvSpPr>
        <p:spPr>
          <a:xfrm>
            <a:off x="274320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E2</a:t>
            </a:r>
            <a:endParaRPr lang="en-US" sz="1800" dirty="0"/>
          </a:p>
        </p:txBody>
      </p:sp>
      <p:sp>
        <p:nvSpPr>
          <p:cNvPr id="10" name="Speaker badge E3"/>
          <p:cNvSpPr/>
          <p:nvPr/>
        </p:nvSpPr>
        <p:spPr>
          <a:xfrm>
            <a:off x="3794760" y="4572000"/>
            <a:ext cx="822960" cy="8229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 Skid">
  <a:themeElements>
    <a:clrScheme name="Flow Skid">
      <a:dk1>
        <a:srgbClr val="1B2631"/>
      </a:dk1>
      <a:lt1>
        <a:srgbClr val="FFFFFF"/>
      </a:lt1>
      <a:dk2>
        <a:srgbClr val="0E2F44"/>
      </a:dk2>
      <a:lt2>
        <a:srgbClr val="EAF2F6"/>
      </a:lt2>
      <a:accent1>
        <a:srgbClr val="1E88B6"/>
      </a:accent1>
      <a:accent2>
        <a:srgbClr val="E8962E"/>
      </a:accent2>
      <a:accent3>
        <a:srgbClr val="2A9D7C"/>
      </a:accent3>
      <a:accent4>
        <a:srgbClr val="C8483F"/>
      </a:accent4>
      <a:accent5>
        <a:srgbClr val="6B7C8A"/>
      </a:accent5>
      <a:accent6>
        <a:srgbClr val="A9D3E6"/>
      </a:accent6>
      <a:hlink>
        <a:srgbClr val="1E88B6"/>
      </a:hlink>
      <a:folHlink>
        <a:srgbClr val="6B7C8A"/>
      </a:folHlink>
    </a:clrScheme>
    <a:fontScheme name="Flow Ski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Process-Fluid Flow Skid</dc:title>
  <dc:subject>Lam Research Challenge 3.0 Stage 2 video presentation</dc:subject>
  <dc:creator>PptxGenJS</dc:creator>
  <cp:lastModifiedBy>PptxGenJS</cp:lastModifiedBy>
  <cp:revision>1</cp:revision>
  <dcterms:created xsi:type="dcterms:W3CDTF">2026-10-11T05:25:14Z</dcterms:created>
  <dcterms:modified xsi:type="dcterms:W3CDTF">2026-10-11T05:25:14Z</dcterms:modified>
</cp:coreProperties>
</file>